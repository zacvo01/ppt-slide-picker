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460729"/>
            <a:ext cx="428625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2B2B2B"/>
                </a:solidFill>
              </a:rPr>
              <a:t>Understanding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2B2B2B"/>
                </a:solidFill>
              </a:rPr>
              <a:t>
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2B2B2B"/>
                </a:solidFill>
              </a:rPr>
              <a:t>Personality Types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2637997"/>
            <a:ext cx="42862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333333"/>
                </a:solidFill>
              </a:rPr>
              <a:t>A Journey of Self-Discovery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571500" y="3293436"/>
            <a:ext cx="67109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Manus AI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571500" y="3488103"/>
            <a:ext cx="42862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January 11, 2026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393531" y="500063"/>
            <a:ext cx="3214688" cy="4143375"/>
          </a:xfrm>
          <a:prstGeom prst="rect">
            <a:avLst/>
          </a:prstGeom>
          <a:solidFill>
            <a:srgbClr val="2B2B2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969" y="571500"/>
            <a:ext cx="3071813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415230"/>
            <a:ext cx="323380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2F0E9"/>
                </a:solidFill>
              </a:rPr>
              <a:t>What Are Personality Types?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571500" y="1285875"/>
            <a:ext cx="38576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Personality types are frameworks for understanding human behavior, motivations, and preferences. They offer insights into how individuals perceive the world and make decisions.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2371725"/>
            <a:ext cx="3857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Popular frameworks include the </a:t>
            </a:r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Myers-Briggs Type Indicator (MBTI)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 and the </a:t>
            </a:r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Big Five (OCEAN)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 model.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3000375"/>
            <a:ext cx="3857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These tools are designed for self-understanding and appreciation of diversity, not for rigid labeling.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325" y="1314450"/>
            <a:ext cx="3514725" cy="28003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3F8C86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308074"/>
            <a:ext cx="445862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2F0E9"/>
                </a:solidFill>
              </a:rPr>
              <a:t>The Analysts: Strategic &amp; Bold Thinkers</a:t>
            </a:r>
            <a:endParaRPr lang="en-US" sz="1602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75" y="1000125"/>
            <a:ext cx="1285875" cy="15716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500" y="2714625"/>
            <a:ext cx="1306971" cy="33397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2B2B"/>
                </a:solidFill>
              </a:rPr>
              <a:t>INTJ (Architect)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571500" y="3191470"/>
            <a:ext cx="3857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Imaginative and strategic thinkers with a plan for everything. They value knowledge and competence.</a:t>
            </a:r>
            <a:endParaRPr lang="en-US" sz="834" dirty="0"/>
          </a:p>
        </p:txBody>
      </p:sp>
      <p:sp>
        <p:nvSpPr>
          <p:cNvPr id="8" name="Text 4"/>
          <p:cNvSpPr/>
          <p:nvPr/>
        </p:nvSpPr>
        <p:spPr>
          <a:xfrm>
            <a:off x="571500" y="3748683"/>
            <a:ext cx="714375" cy="253603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05A47"/>
                </a:solidFill>
              </a:rPr>
              <a:t>Strengths</a:t>
            </a:r>
            <a:endParaRPr lang="en-US" sz="683" dirty="0"/>
          </a:p>
        </p:txBody>
      </p:sp>
      <p:sp>
        <p:nvSpPr>
          <p:cNvPr id="9" name="Text 5"/>
          <p:cNvSpPr/>
          <p:nvPr/>
        </p:nvSpPr>
        <p:spPr>
          <a:xfrm>
            <a:off x="1285875" y="3748683"/>
            <a:ext cx="3143250" cy="253603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0000"/>
                </a:solidFill>
              </a:rPr>
              <a:t>Analytical, Innovative, Determined</a:t>
            </a:r>
            <a:endParaRPr lang="en-US" sz="727" dirty="0"/>
          </a:p>
        </p:txBody>
      </p:sp>
      <p:sp>
        <p:nvSpPr>
          <p:cNvPr id="10" name="Text 6"/>
          <p:cNvSpPr/>
          <p:nvPr/>
        </p:nvSpPr>
        <p:spPr>
          <a:xfrm>
            <a:off x="571500" y="4002286"/>
            <a:ext cx="714375" cy="257175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05A47"/>
                </a:solidFill>
              </a:rPr>
              <a:t>Challenges</a:t>
            </a:r>
            <a:endParaRPr lang="en-US" sz="683" dirty="0"/>
          </a:p>
        </p:txBody>
      </p:sp>
      <p:sp>
        <p:nvSpPr>
          <p:cNvPr id="11" name="Text 7"/>
          <p:cNvSpPr/>
          <p:nvPr/>
        </p:nvSpPr>
        <p:spPr>
          <a:xfrm>
            <a:off x="1285875" y="4002286"/>
            <a:ext cx="3143250" cy="257175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0000"/>
                </a:solidFill>
              </a:rPr>
              <a:t>Overly Critical, Dismissive of Emotions</a:t>
            </a:r>
            <a:endParaRPr lang="en-US" sz="727" dirty="0"/>
          </a:p>
        </p:txBody>
      </p:sp>
      <p:sp>
        <p:nvSpPr>
          <p:cNvPr id="12" name="Shape 8"/>
          <p:cNvSpPr/>
          <p:nvPr/>
        </p:nvSpPr>
        <p:spPr>
          <a:xfrm>
            <a:off x="6107906" y="1250156"/>
            <a:ext cx="1071563" cy="1071563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3" name="Text 9"/>
          <p:cNvSpPr/>
          <p:nvPr/>
        </p:nvSpPr>
        <p:spPr>
          <a:xfrm>
            <a:off x="6107906" y="1250156"/>
            <a:ext cx="1071563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592" dirty="0">
                <a:solidFill>
                  <a:srgbClr val="F2F0E9"/>
                </a:solidFill>
              </a:rPr>
              <a:t>ENTJ</a:t>
            </a:r>
            <a:endParaRPr lang="en-US" sz="2592" dirty="0"/>
          </a:p>
        </p:txBody>
      </p:sp>
      <p:sp>
        <p:nvSpPr>
          <p:cNvPr id="14" name="Text 10"/>
          <p:cNvSpPr/>
          <p:nvPr/>
        </p:nvSpPr>
        <p:spPr>
          <a:xfrm>
            <a:off x="4714875" y="2571750"/>
            <a:ext cx="1608209" cy="33397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2B2B"/>
                </a:solidFill>
              </a:rPr>
              <a:t>ENTJ (Commander)</a:t>
            </a:r>
            <a:endParaRPr lang="en-US" sz="1193" dirty="0"/>
          </a:p>
        </p:txBody>
      </p:sp>
      <p:sp>
        <p:nvSpPr>
          <p:cNvPr id="15" name="Text 11"/>
          <p:cNvSpPr/>
          <p:nvPr/>
        </p:nvSpPr>
        <p:spPr>
          <a:xfrm>
            <a:off x="4714875" y="3048595"/>
            <a:ext cx="3857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Bold, imaginative, and strong-willed leaders who excel at strategy and organization. They are confident and charismatic.</a:t>
            </a:r>
            <a:endParaRPr lang="en-US" sz="834" dirty="0"/>
          </a:p>
        </p:txBody>
      </p:sp>
      <p:sp>
        <p:nvSpPr>
          <p:cNvPr id="16" name="Text 12"/>
          <p:cNvSpPr/>
          <p:nvPr/>
        </p:nvSpPr>
        <p:spPr>
          <a:xfrm>
            <a:off x="4714875" y="3605808"/>
            <a:ext cx="714375" cy="253603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05A47"/>
                </a:solidFill>
              </a:rPr>
              <a:t>Strengths</a:t>
            </a:r>
            <a:endParaRPr lang="en-US" sz="683" dirty="0"/>
          </a:p>
        </p:txBody>
      </p:sp>
      <p:sp>
        <p:nvSpPr>
          <p:cNvPr id="17" name="Text 13"/>
          <p:cNvSpPr/>
          <p:nvPr/>
        </p:nvSpPr>
        <p:spPr>
          <a:xfrm>
            <a:off x="5429250" y="3605808"/>
            <a:ext cx="3143250" cy="253603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0000"/>
                </a:solidFill>
              </a:rPr>
              <a:t>Decisive, Efficient, Inspiring</a:t>
            </a:r>
            <a:endParaRPr lang="en-US" sz="727" dirty="0"/>
          </a:p>
        </p:txBody>
      </p:sp>
      <p:sp>
        <p:nvSpPr>
          <p:cNvPr id="18" name="Text 14"/>
          <p:cNvSpPr/>
          <p:nvPr/>
        </p:nvSpPr>
        <p:spPr>
          <a:xfrm>
            <a:off x="4714875" y="3859411"/>
            <a:ext cx="714375" cy="257175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05A47"/>
                </a:solidFill>
              </a:rPr>
              <a:t>Challenges</a:t>
            </a:r>
            <a:endParaRPr lang="en-US" sz="683" dirty="0"/>
          </a:p>
        </p:txBody>
      </p:sp>
      <p:sp>
        <p:nvSpPr>
          <p:cNvPr id="19" name="Text 15"/>
          <p:cNvSpPr/>
          <p:nvPr/>
        </p:nvSpPr>
        <p:spPr>
          <a:xfrm>
            <a:off x="5429250" y="3859411"/>
            <a:ext cx="3143250" cy="257175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0000"/>
                </a:solidFill>
              </a:rPr>
              <a:t>Impatience, Insensitivity</a:t>
            </a:r>
            <a:endParaRPr lang="en-US" sz="72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E05A47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308074"/>
            <a:ext cx="5744719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2F0E9"/>
                </a:solidFill>
              </a:rPr>
              <a:t>The Diplomats: Idealistic &amp; Enthusiastic Advocates</a:t>
            </a:r>
            <a:endParaRPr lang="en-US" sz="1602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88" y="1014413"/>
            <a:ext cx="3543300" cy="17573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500" y="2928938"/>
            <a:ext cx="3786188" cy="233958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2B2B"/>
                </a:solidFill>
              </a:rPr>
              <a:t>INFP (Mediator)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571500" y="3270052"/>
            <a:ext cx="378618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Poetic, kind, and altruistic individuals driven by strong inner values and a desire for harmony. They are creative and open-minded.</a:t>
            </a:r>
            <a:endParaRPr lang="en-US" sz="834" dirty="0"/>
          </a:p>
        </p:txBody>
      </p:sp>
      <p:sp>
        <p:nvSpPr>
          <p:cNvPr id="8" name="Text 4"/>
          <p:cNvSpPr/>
          <p:nvPr/>
        </p:nvSpPr>
        <p:spPr>
          <a:xfrm>
            <a:off x="714375" y="3778653"/>
            <a:ext cx="55433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0000"/>
                </a:solidFill>
              </a:rPr>
              <a:t>Strengths:</a:t>
            </a:r>
            <a:endParaRPr lang="en-US" sz="734" dirty="0"/>
          </a:p>
        </p:txBody>
      </p:sp>
      <p:sp>
        <p:nvSpPr>
          <p:cNvPr id="9" name="Text 5"/>
          <p:cNvSpPr/>
          <p:nvPr/>
        </p:nvSpPr>
        <p:spPr>
          <a:xfrm>
            <a:off x="1268713" y="3778653"/>
            <a:ext cx="197019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000000"/>
                </a:solidFill>
              </a:rPr>
              <a:t>Empathetic, Compassionate, Dedicated</a:t>
            </a:r>
            <a:endParaRPr lang="en-US" sz="780" dirty="0"/>
          </a:p>
        </p:txBody>
      </p:sp>
      <p:sp>
        <p:nvSpPr>
          <p:cNvPr id="10" name="Text 6"/>
          <p:cNvSpPr/>
          <p:nvPr/>
        </p:nvSpPr>
        <p:spPr>
          <a:xfrm>
            <a:off x="714375" y="3996537"/>
            <a:ext cx="61746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0000"/>
                </a:solidFill>
              </a:rPr>
              <a:t>Challenges:</a:t>
            </a:r>
            <a:endParaRPr lang="en-US" sz="734" dirty="0"/>
          </a:p>
        </p:txBody>
      </p:sp>
      <p:sp>
        <p:nvSpPr>
          <p:cNvPr id="11" name="Text 7"/>
          <p:cNvSpPr/>
          <p:nvPr/>
        </p:nvSpPr>
        <p:spPr>
          <a:xfrm>
            <a:off x="1331835" y="3996537"/>
            <a:ext cx="164110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000000"/>
                </a:solidFill>
              </a:rPr>
              <a:t>Excessive Idealism, Self-Isolation</a:t>
            </a:r>
            <a:endParaRPr lang="en-US" sz="780" dirty="0"/>
          </a:p>
        </p:txBody>
      </p:sp>
      <p:sp>
        <p:nvSpPr>
          <p:cNvPr id="12" name="Shape 8"/>
          <p:cNvSpPr/>
          <p:nvPr/>
        </p:nvSpPr>
        <p:spPr>
          <a:xfrm>
            <a:off x="4786313" y="1000125"/>
            <a:ext cx="3786188" cy="1785938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3" name="Text 9"/>
          <p:cNvSpPr/>
          <p:nvPr/>
        </p:nvSpPr>
        <p:spPr>
          <a:xfrm>
            <a:off x="6179818" y="1572518"/>
            <a:ext cx="999148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592" dirty="0">
                <a:solidFill>
                  <a:srgbClr val="F2F0E9"/>
                </a:solidFill>
              </a:rPr>
              <a:t>ENFP</a:t>
            </a:r>
            <a:endParaRPr lang="en-US" sz="2592" dirty="0"/>
          </a:p>
        </p:txBody>
      </p:sp>
      <p:sp>
        <p:nvSpPr>
          <p:cNvPr id="14" name="Text 10"/>
          <p:cNvSpPr/>
          <p:nvPr/>
        </p:nvSpPr>
        <p:spPr>
          <a:xfrm>
            <a:off x="6179818" y="2038648"/>
            <a:ext cx="99914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2F0E9"/>
                </a:solidFill>
              </a:rPr>
              <a:t>The Campaigner</a:t>
            </a:r>
            <a:endParaRPr lang="en-US" sz="942" dirty="0"/>
          </a:p>
        </p:txBody>
      </p:sp>
      <p:sp>
        <p:nvSpPr>
          <p:cNvPr id="15" name="Text 11"/>
          <p:cNvSpPr/>
          <p:nvPr/>
        </p:nvSpPr>
        <p:spPr>
          <a:xfrm>
            <a:off x="4786313" y="2928938"/>
            <a:ext cx="3786188" cy="233958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2B2B"/>
                </a:solidFill>
              </a:rPr>
              <a:t>ENFP (Campaigner)</a:t>
            </a:r>
            <a:endParaRPr lang="en-US" sz="1193" dirty="0"/>
          </a:p>
        </p:txBody>
      </p:sp>
      <p:sp>
        <p:nvSpPr>
          <p:cNvPr id="16" name="Text 12"/>
          <p:cNvSpPr/>
          <p:nvPr/>
        </p:nvSpPr>
        <p:spPr>
          <a:xfrm>
            <a:off x="4786313" y="3270052"/>
            <a:ext cx="378618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Enthusiastic, creative, and sociable free spirits who love exploring new ideas. They are curious, energetic, and people-oriented.</a:t>
            </a:r>
            <a:endParaRPr lang="en-US" sz="834" dirty="0"/>
          </a:p>
        </p:txBody>
      </p:sp>
      <p:sp>
        <p:nvSpPr>
          <p:cNvPr id="17" name="Text 13"/>
          <p:cNvSpPr/>
          <p:nvPr/>
        </p:nvSpPr>
        <p:spPr>
          <a:xfrm>
            <a:off x="4929188" y="3778653"/>
            <a:ext cx="55433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0000"/>
                </a:solidFill>
              </a:rPr>
              <a:t>Strengths:</a:t>
            </a:r>
            <a:endParaRPr lang="en-US" sz="734" dirty="0"/>
          </a:p>
        </p:txBody>
      </p:sp>
      <p:sp>
        <p:nvSpPr>
          <p:cNvPr id="18" name="Text 14"/>
          <p:cNvSpPr/>
          <p:nvPr/>
        </p:nvSpPr>
        <p:spPr>
          <a:xfrm>
            <a:off x="5483526" y="3778653"/>
            <a:ext cx="190590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000000"/>
                </a:solidFill>
              </a:rPr>
              <a:t>Charismatic, Creative, Communicative</a:t>
            </a:r>
            <a:endParaRPr lang="en-US" sz="780" dirty="0"/>
          </a:p>
        </p:txBody>
      </p:sp>
      <p:sp>
        <p:nvSpPr>
          <p:cNvPr id="19" name="Text 15"/>
          <p:cNvSpPr/>
          <p:nvPr/>
        </p:nvSpPr>
        <p:spPr>
          <a:xfrm>
            <a:off x="4929188" y="3996537"/>
            <a:ext cx="61746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0000"/>
                </a:solidFill>
              </a:rPr>
              <a:t>Challenges:</a:t>
            </a:r>
            <a:endParaRPr lang="en-US" sz="734" dirty="0"/>
          </a:p>
        </p:txBody>
      </p:sp>
      <p:sp>
        <p:nvSpPr>
          <p:cNvPr id="20" name="Text 16"/>
          <p:cNvSpPr/>
          <p:nvPr/>
        </p:nvSpPr>
        <p:spPr>
          <a:xfrm>
            <a:off x="5546647" y="3996537"/>
            <a:ext cx="171257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000000"/>
                </a:solidFill>
              </a:rPr>
              <a:t>Distraction, Difficulty with Routine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308074"/>
            <a:ext cx="531542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2F0E9"/>
                </a:solidFill>
              </a:rPr>
              <a:t>The Sentinels: Practical &amp; Dedicated Guardians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571500" y="1000125"/>
            <a:ext cx="2143125" cy="233958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2B2B"/>
                </a:solidFill>
              </a:rPr>
              <a:t>ISTJ (Logistician)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571500" y="1348383"/>
            <a:ext cx="21431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Practical and fact-minded individuals whose reliability is unquestionable. They are responsible, organized, and detail-oriented.</a:t>
            </a:r>
            <a:endParaRPr lang="en-US" sz="780" dirty="0"/>
          </a:p>
        </p:txBody>
      </p:sp>
      <p:sp>
        <p:nvSpPr>
          <p:cNvPr id="7" name="Text 4"/>
          <p:cNvSpPr/>
          <p:nvPr/>
        </p:nvSpPr>
        <p:spPr>
          <a:xfrm>
            <a:off x="714375" y="2244923"/>
            <a:ext cx="51739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Strengths: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1231767" y="2177058"/>
            <a:ext cx="1482858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Responsible, Logical, Meticulous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714375" y="2505670"/>
            <a:ext cx="5763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Challenges: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1290675" y="2505670"/>
            <a:ext cx="133839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Rigidity, Resistant to Change</a:t>
            </a:r>
            <a:endParaRPr lang="en-US" sz="727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593056"/>
            <a:ext cx="2743200" cy="20288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29375" y="1000125"/>
            <a:ext cx="2143125" cy="233958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2B2B"/>
                </a:solidFill>
              </a:rPr>
              <a:t>ISFJ (Defender)</a:t>
            </a:r>
            <a:endParaRPr lang="en-US" sz="1193" dirty="0"/>
          </a:p>
        </p:txBody>
      </p:sp>
      <p:sp>
        <p:nvSpPr>
          <p:cNvPr id="13" name="Text 9"/>
          <p:cNvSpPr/>
          <p:nvPr/>
        </p:nvSpPr>
        <p:spPr>
          <a:xfrm>
            <a:off x="6429375" y="1348383"/>
            <a:ext cx="21431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Very dedicated and warm protectors, always ready to defend their loved ones. They are observant, supportive, and value security.</a:t>
            </a:r>
            <a:endParaRPr lang="en-US" sz="780" dirty="0"/>
          </a:p>
        </p:txBody>
      </p:sp>
      <p:sp>
        <p:nvSpPr>
          <p:cNvPr id="14" name="Text 10"/>
          <p:cNvSpPr/>
          <p:nvPr/>
        </p:nvSpPr>
        <p:spPr>
          <a:xfrm>
            <a:off x="6572250" y="2177058"/>
            <a:ext cx="51739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Strengths:</a:t>
            </a:r>
            <a:endParaRPr lang="en-US" sz="683" dirty="0"/>
          </a:p>
        </p:txBody>
      </p:sp>
      <p:sp>
        <p:nvSpPr>
          <p:cNvPr id="15" name="Text 11"/>
          <p:cNvSpPr/>
          <p:nvPr/>
        </p:nvSpPr>
        <p:spPr>
          <a:xfrm>
            <a:off x="7089642" y="2177058"/>
            <a:ext cx="131916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Supportive, Reliable, Patient</a:t>
            </a:r>
            <a:endParaRPr lang="en-US" sz="727" dirty="0"/>
          </a:p>
        </p:txBody>
      </p:sp>
      <p:sp>
        <p:nvSpPr>
          <p:cNvPr id="16" name="Text 12"/>
          <p:cNvSpPr/>
          <p:nvPr/>
        </p:nvSpPr>
        <p:spPr>
          <a:xfrm>
            <a:off x="6572250" y="2369939"/>
            <a:ext cx="5763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Challenges:</a:t>
            </a:r>
            <a:endParaRPr lang="en-US" sz="683" dirty="0"/>
          </a:p>
        </p:txBody>
      </p:sp>
      <p:sp>
        <p:nvSpPr>
          <p:cNvPr id="17" name="Text 13"/>
          <p:cNvSpPr/>
          <p:nvPr/>
        </p:nvSpPr>
        <p:spPr>
          <a:xfrm>
            <a:off x="7148550" y="2369939"/>
            <a:ext cx="115366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Shyness, Over-burdened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308074"/>
            <a:ext cx="503425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2F0E9"/>
                </a:solidFill>
              </a:rPr>
              <a:t>The Explorers: Artistic &amp; Bold Experimenters</a:t>
            </a:r>
            <a:endParaRPr lang="en-US" sz="1602" dirty="0"/>
          </a:p>
        </p:txBody>
      </p:sp>
      <p:sp>
        <p:nvSpPr>
          <p:cNvPr id="5" name="Shape 2"/>
          <p:cNvSpPr/>
          <p:nvPr/>
        </p:nvSpPr>
        <p:spPr>
          <a:xfrm>
            <a:off x="571500" y="1143000"/>
            <a:ext cx="3786188" cy="428625"/>
          </a:xfrm>
          <a:prstGeom prst="rect">
            <a:avLst/>
          </a:prstGeom>
          <a:solidFill>
            <a:srgbClr val="E05A47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143000"/>
            <a:ext cx="3786188" cy="428625"/>
          </a:xfrm>
          <a:prstGeom prst="rect">
            <a:avLst/>
          </a:prstGeom>
          <a:noFill/>
          <a:ln/>
        </p:spPr>
        <p:txBody>
          <a:bodyPr wrap="square" lIns="170053" tIns="127508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F2F0E9"/>
                </a:solidFill>
              </a:rPr>
              <a:t>ISFP (Adventurer)</a:t>
            </a:r>
            <a:endParaRPr lang="en-US" sz="1486" dirty="0"/>
          </a:p>
        </p:txBody>
      </p:sp>
      <p:sp>
        <p:nvSpPr>
          <p:cNvPr id="7" name="Text 4"/>
          <p:cNvSpPr/>
          <p:nvPr/>
        </p:nvSpPr>
        <p:spPr>
          <a:xfrm>
            <a:off x="571500" y="1785938"/>
            <a:ext cx="3786188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Flexible and charming artists, always ready to explore and experience something new. They are spontaneous, sensitive, and appreciate beauty.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2786063"/>
            <a:ext cx="3786188" cy="155377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2B2B2B"/>
                </a:solidFill>
              </a:rPr>
              <a:t>Strengths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571500" y="3012877"/>
            <a:ext cx="378618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Artistic talent, Adaptability, Living in the present, Charming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571500" y="3351479"/>
            <a:ext cx="3786188" cy="155377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2B2B2B"/>
                </a:solidFill>
              </a:rPr>
              <a:t>Challenges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571500" y="3578293"/>
            <a:ext cx="378618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Unpredictability, Avoiding conflict, Easily stressed</a:t>
            </a:r>
            <a:endParaRPr lang="en-US" sz="834" dirty="0"/>
          </a:p>
        </p:txBody>
      </p:sp>
      <p:sp>
        <p:nvSpPr>
          <p:cNvPr id="12" name="Shape 9"/>
          <p:cNvSpPr/>
          <p:nvPr/>
        </p:nvSpPr>
        <p:spPr>
          <a:xfrm>
            <a:off x="4786313" y="1143000"/>
            <a:ext cx="3786188" cy="428625"/>
          </a:xfrm>
          <a:prstGeom prst="rect">
            <a:avLst/>
          </a:prstGeom>
          <a:solidFill>
            <a:srgbClr val="3F8C86"/>
          </a:solidFill>
          <a:ln/>
        </p:spPr>
      </p:sp>
      <p:sp>
        <p:nvSpPr>
          <p:cNvPr id="13" name="Text 10"/>
          <p:cNvSpPr/>
          <p:nvPr/>
        </p:nvSpPr>
        <p:spPr>
          <a:xfrm>
            <a:off x="4786313" y="1143000"/>
            <a:ext cx="3786188" cy="428625"/>
          </a:xfrm>
          <a:prstGeom prst="rect">
            <a:avLst/>
          </a:prstGeom>
          <a:noFill/>
          <a:ln/>
        </p:spPr>
        <p:txBody>
          <a:bodyPr wrap="square" lIns="170053" tIns="127508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F2F0E9"/>
                </a:solidFill>
              </a:rPr>
              <a:t>ISTP (Virtuoso)</a:t>
            </a:r>
            <a:endParaRPr lang="en-US" sz="1486" dirty="0"/>
          </a:p>
        </p:txBody>
      </p:sp>
      <p:sp>
        <p:nvSpPr>
          <p:cNvPr id="14" name="Text 11"/>
          <p:cNvSpPr/>
          <p:nvPr/>
        </p:nvSpPr>
        <p:spPr>
          <a:xfrm>
            <a:off x="4786313" y="1785938"/>
            <a:ext cx="3786188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Bold and practical experimenters, masters of all kinds of tools. They are independent, spontaneous, and enjoy hands-on work.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4786313" y="2786063"/>
            <a:ext cx="3786188" cy="155377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2B2B2B"/>
                </a:solidFill>
              </a:rPr>
              <a:t>Strengths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4786313" y="3012877"/>
            <a:ext cx="378618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Practicality, Calmness under pressure, Technical skill, Spontaneous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4786313" y="3351479"/>
            <a:ext cx="3786188" cy="155377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2B2B2B"/>
                </a:solidFill>
              </a:rPr>
              <a:t>Challenges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4786313" y="3578293"/>
            <a:ext cx="378618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Stubbornness, Risk-proneness, Private nature</a:t>
            </a:r>
            <a:endParaRPr lang="en-US" sz="8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720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932259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B2B2B"/>
                </a:solidFill>
              </a:rPr>
              <a:t>The Debater (ENTP)</a:t>
            </a:r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B2B2B"/>
                </a:solidFill>
              </a:rPr>
              <a:t>
</a:t>
            </a:r>
            <a:pPr algn="l" indent="0" marL="0">
              <a:lnSpc>
                <a:spcPts val="3200"/>
              </a:lnSpc>
              <a:buNone/>
            </a:pPr>
            <a:r>
              <a:rPr lang="en-US" sz="1602" b="1" dirty="0">
                <a:solidFill>
                  <a:srgbClr val="333333"/>
                </a:solidFill>
              </a:rPr>
              <a:t>The Intellectual Challenger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789509"/>
            <a:ext cx="37861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spc="2" kern="0" dirty="0">
                <a:solidFill>
                  <a:srgbClr val="E05A47"/>
                </a:solidFill>
              </a:rPr>
              <a:t>Core Identity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571500" y="2166342"/>
            <a:ext cx="37861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Smart and curious thinkers who cannot resist an intellectual challenge. ENTPs are innovative, quick-witted, and enjoy playing "devil's advocate" to explore every angle of an idea. They thrive on brainstorming and deconstructing complex concepts.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3595092"/>
            <a:ext cx="37861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spc="2" kern="0" dirty="0">
                <a:solidFill>
                  <a:srgbClr val="E05A47"/>
                </a:solidFill>
              </a:rPr>
              <a:t>The Intellectual Edge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571500" y="3971925"/>
            <a:ext cx="37861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Unlike more rigid types, Debaters are masters of mental agility. They don't just solve problems; they redefine them, often finding solutions that others miss by questioning fundamental assumptions.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86313" y="1789509"/>
            <a:ext cx="3786188" cy="2143125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9" name="Text 6"/>
          <p:cNvSpPr/>
          <p:nvPr/>
        </p:nvSpPr>
        <p:spPr>
          <a:xfrm>
            <a:off x="5072063" y="2003822"/>
            <a:ext cx="1774245" cy="271463"/>
          </a:xfrm>
          <a:prstGeom prst="rect">
            <a:avLst/>
          </a:prstGeom>
          <a:noFill/>
          <a:ln/>
        </p:spPr>
        <p:txBody>
          <a:bodyPr wrap="square" lIns="0" tIns="0" rIns="0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F8C86"/>
                </a:solidFill>
              </a:rPr>
              <a:t>Key Strengths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6846308" y="2003822"/>
            <a:ext cx="1440442" cy="271463"/>
          </a:xfrm>
          <a:prstGeom prst="rect">
            <a:avLst/>
          </a:prstGeom>
          <a:noFill/>
          <a:ln/>
        </p:spPr>
        <p:txBody>
          <a:bodyPr wrap="square" lIns="0" tIns="0" rIns="0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F8C86"/>
                </a:solidFill>
              </a:rPr>
              <a:t>Growth Areas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5072063" y="2389584"/>
            <a:ext cx="87577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05A47"/>
                </a:solidFill>
              </a:rPr>
              <a:t>Knowledgeable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5947842" y="2389584"/>
            <a:ext cx="60465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2F0E9"/>
                </a:solidFill>
              </a:rPr>
              <a:t>&amp; Versatile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6846308" y="2275284"/>
            <a:ext cx="1440442" cy="380405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2F0E9"/>
                </a:solidFill>
              </a:rPr>
              <a:t>Can be Argumentative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5072063" y="2655689"/>
            <a:ext cx="1774245" cy="376833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2F0E9"/>
                </a:solidFill>
              </a:rPr>
              <a:t>Quick &amp; Original Thinkers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6846308" y="2655689"/>
            <a:ext cx="1440442" cy="376833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2F0E9"/>
                </a:solidFill>
              </a:rPr>
              <a:t>Insensitivity to Others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5072063" y="3032522"/>
            <a:ext cx="1774245" cy="376833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2F0E9"/>
                </a:solidFill>
              </a:rPr>
              <a:t>Excellent Communicators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6846308" y="3032522"/>
            <a:ext cx="1440442" cy="376833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2F0E9"/>
                </a:solidFill>
              </a:rPr>
              <a:t>Difficulty with Focus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5072063" y="3409355"/>
            <a:ext cx="1774245" cy="376833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2F0E9"/>
                </a:solidFill>
              </a:rPr>
              <a:t>Charismatic &amp; Energetic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6846308" y="3409355"/>
            <a:ext cx="1440442" cy="376833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2F0E9"/>
                </a:solidFill>
              </a:rPr>
              <a:t>Dislike for Routine</a:t>
            </a:r>
            <a:endParaRPr lang="en-US" sz="8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415230"/>
            <a:ext cx="508911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2F0E9"/>
                </a:solidFill>
              </a:rPr>
              <a:t>The Protagonist (ENFJ): The Inspiring Mentor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1714500" y="1285875"/>
            <a:ext cx="57150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Charismatic and inspiring leaders who are able to mesmerize their listeners. They are warm, empathetic, and highly social, driven by a desire to help others.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571500" y="2537427"/>
            <a:ext cx="3714750" cy="233958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2B2B"/>
                </a:solidFill>
              </a:rPr>
              <a:t>Key Characteristics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2942834"/>
            <a:ext cx="371475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ENFJs are natural-born leaders, full of passion and charisma. They often serve as the backbone of their communities, guiding others with their strong intuition and altruistic nature.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4857750" y="2537427"/>
            <a:ext cx="3714750" cy="233958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2B2B"/>
                </a:solidFill>
              </a:rPr>
              <a:t>Strengths &amp; Challenges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029200" y="2942834"/>
            <a:ext cx="6652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Strengths: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5694406" y="2942834"/>
            <a:ext cx="224617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Inspiring, Tolerant, Reliable, Altruistic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5029200" y="3291092"/>
            <a:ext cx="74094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Challenges: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5770141" y="3203581"/>
            <a:ext cx="2802359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Overly Idealistic, Self-Sacrificing, Struggle with Tough Decisions</a:t>
            </a:r>
            <a:endParaRPr lang="en-US" sz="94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308074"/>
            <a:ext cx="653912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2F0E9"/>
                </a:solidFill>
              </a:rPr>
              <a:t>Embracing Diversity: The Power of Different Personalities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571500" y="1635612"/>
            <a:ext cx="210740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E05A47"/>
                </a:solidFill>
              </a:rPr>
              <a:t>Self-Awareness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571500" y="1916004"/>
            <a:ext cx="210740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Understanding your own type is the first step toward personal growth and emotional intelligence.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571500" y="2750344"/>
            <a:ext cx="210740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E05A47"/>
                </a:solidFill>
              </a:rPr>
              <a:t>Collaboration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571500" y="3030736"/>
            <a:ext cx="210740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Diverse teams bring a wider range of perspectives, leading to more innovative and robust solutions.</a:t>
            </a:r>
            <a:endParaRPr lang="en-US" sz="834" dirty="0"/>
          </a:p>
        </p:txBody>
      </p:sp>
      <p:sp>
        <p:nvSpPr>
          <p:cNvPr id="9" name="Shape 6"/>
          <p:cNvSpPr/>
          <p:nvPr/>
        </p:nvSpPr>
        <p:spPr>
          <a:xfrm>
            <a:off x="2964656" y="1143000"/>
            <a:ext cx="3214688" cy="3214688"/>
          </a:xfrm>
          <a:prstGeom prst="rect">
            <a:avLst/>
          </a:prstGeom>
          <a:solidFill>
            <a:srgbClr val="FFFFFF"/>
          </a:solidFill>
          <a:ln w="73152">
            <a:solidFill>
              <a:srgbClr val="3F8C8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656" y="1143000"/>
            <a:ext cx="3214688" cy="32146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65094" y="1635612"/>
            <a:ext cx="210740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E05A47"/>
                </a:solidFill>
              </a:rPr>
              <a:t>Empathy</a:t>
            </a:r>
            <a:endParaRPr lang="en-US" sz="987" dirty="0"/>
          </a:p>
        </p:txBody>
      </p:sp>
      <p:sp>
        <p:nvSpPr>
          <p:cNvPr id="12" name="Text 8"/>
          <p:cNvSpPr/>
          <p:nvPr/>
        </p:nvSpPr>
        <p:spPr>
          <a:xfrm>
            <a:off x="6465094" y="1916004"/>
            <a:ext cx="210740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Recognizing the motivations of others fosters better communication and reduces interpersonal conflict.</a:t>
            </a:r>
            <a:endParaRPr lang="en-US" sz="834" dirty="0"/>
          </a:p>
        </p:txBody>
      </p:sp>
      <p:sp>
        <p:nvSpPr>
          <p:cNvPr id="13" name="Text 9"/>
          <p:cNvSpPr/>
          <p:nvPr/>
        </p:nvSpPr>
        <p:spPr>
          <a:xfrm>
            <a:off x="6465094" y="2750344"/>
            <a:ext cx="210740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E05A47"/>
                </a:solidFill>
              </a:rPr>
              <a:t>Synergy</a:t>
            </a:r>
            <a:endParaRPr lang="en-US" sz="987" dirty="0"/>
          </a:p>
        </p:txBody>
      </p:sp>
      <p:sp>
        <p:nvSpPr>
          <p:cNvPr id="14" name="Text 10"/>
          <p:cNvSpPr/>
          <p:nvPr/>
        </p:nvSpPr>
        <p:spPr>
          <a:xfrm>
            <a:off x="6465094" y="3030736"/>
            <a:ext cx="210740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When we appreciate our differences, we can leverage each other's strengths to achieve common goals.</a:t>
            </a:r>
            <a:endParaRPr lang="en-US" sz="83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03925" y="1191220"/>
            <a:ext cx="3936150" cy="9340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500"/>
              </a:lnSpc>
              <a:buNone/>
            </a:pPr>
            <a:r>
              <a:rPr lang="en-US" sz="4974" b="1" spc="-2" kern="0" dirty="0">
                <a:solidFill>
                  <a:srgbClr val="2B2B2B"/>
                </a:solidFill>
              </a:rPr>
              <a:t>THANK YOU</a:t>
            </a:r>
            <a:endParaRPr lang="en-US" sz="4974" dirty="0"/>
          </a:p>
        </p:txBody>
      </p:sp>
      <p:sp>
        <p:nvSpPr>
          <p:cNvPr id="4" name="Text 1"/>
          <p:cNvSpPr/>
          <p:nvPr/>
        </p:nvSpPr>
        <p:spPr>
          <a:xfrm>
            <a:off x="2428875" y="2782491"/>
            <a:ext cx="42862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333333"/>
                </a:solidFill>
              </a:rPr>
              <a:t>Questions &amp; Discussion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2428875" y="3266480"/>
            <a:ext cx="4286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"The meeting of two personalities is like the contact of two chemical substances: if there is any reaction, both are transformed." — C.G. Jung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2026-01-11T21:43:15Z</dcterms:created>
  <dcterms:modified xsi:type="dcterms:W3CDTF">2026-01-11T21:43:15Z</dcterms:modified>
</cp:coreProperties>
</file>